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9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756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TEORÍA DEL ERROR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1820779"/>
            <a:ext cx="4572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1097280" y="2423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Integrantes:  </a:t>
            </a:r>
            <a:r>
              <a:rPr lang="en-US" sz="1300" dirty="0">
                <a:solidFill>
                  <a:srgbClr val="E0F2FE"/>
                </a:solidFill>
              </a:rPr>
              <a:t>Anahí Carua  |  Andrés Duque  |  Lenin Flores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7706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Docente:  </a:t>
            </a:r>
            <a:r>
              <a:rPr lang="en-US" sz="1300" dirty="0">
                <a:solidFill>
                  <a:srgbClr val="E0F2FE"/>
                </a:solidFill>
              </a:rPr>
              <a:t>Ing. Marcelo Román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11810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Materia:  </a:t>
            </a:r>
            <a:r>
              <a:rPr lang="en-US" sz="1300" dirty="0">
                <a:solidFill>
                  <a:srgbClr val="E0F2FE"/>
                </a:solidFill>
              </a:rPr>
              <a:t>Métodos Numéricos  —  NRC: 27170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46557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Fecha:  </a:t>
            </a:r>
            <a:r>
              <a:rPr lang="en-US" sz="1300" dirty="0">
                <a:solidFill>
                  <a:srgbClr val="E0F2FE"/>
                </a:solidFill>
              </a:rPr>
              <a:t>28 de abril de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" y="44348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Departamento de Ciencias Exactas  •  Trabajo Colaborativo 1P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Contexto del Problema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F2FE"/>
                </a:solidFill>
              </a:rPr>
              <a:t>En sistemas de Machine Learning con pipelines CI/CD, las métricas (accuracy, F1-score, RMSE) se calculan con aritmética de punto flotante. Esta representación introduce errores inherentes —redondeo, truncamiento, cancelación— que, aunque pequeños individualmente, pueden acumularse y afectar la selección automática del mejor modelo.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859536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274320" y="274320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Importancia en Ingeniería de Software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Un tratamiento inadecuado de los errores numéricos afecta simulaciones, inteligencia artificial y algoritmos científicos. La teoría del error permite identificar limitaciones computacionales y mejorar la estabilidad de los sistemas.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463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OG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Objetivo General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Analizar la teoría del error en Ingeniería de Software mediante simulaciones numéricas que evidencien el comportamiento del error en operaciones computacionales.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8595360" cy="749808"/>
          </a:xfrm>
          <a:prstGeom prst="rect">
            <a:avLst/>
          </a:prstGeom>
          <a:solidFill>
            <a:srgbClr val="1A2D4A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11480" y="227685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41148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OE1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Definir y explicar los tipos de error: absoluto, relativo, truncamiento y redondeo.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8595360" cy="749808"/>
          </a:xfrm>
          <a:prstGeom prst="rect">
            <a:avLst/>
          </a:prstGeom>
          <a:solidFill>
            <a:srgbClr val="1A2D4A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411480" y="319125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41148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OE2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31546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Implementar ejemplos prácticos en Python y MATLAB para observar la generación y propagación del error.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977640"/>
            <a:ext cx="8595360" cy="749808"/>
          </a:xfrm>
          <a:prstGeom prst="rect">
            <a:avLst/>
          </a:prstGeom>
          <a:solidFill>
            <a:srgbClr val="1A2D4A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411480" y="410565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41148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OE3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4069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Evaluar la importancia del manejo adecuado del error en el desarrollo de software confiable.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FUNDAMENTOS MATEMÁTICOS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16052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20040" y="11795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Error Absoluto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393192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 = |x − xₐ|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20116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Diferencia directa entre el valor exacto y el aproximado.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754880" y="11795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Error Relativo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600200"/>
            <a:ext cx="393192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 = |x − xₐ| / |x|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20116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Relaciona el error absoluto con el valor exacto; mide la magnitud proporcional.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228600" y="2926080"/>
            <a:ext cx="416052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320040" y="29626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Error de Redondeo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383280"/>
            <a:ext cx="393192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320040" y="3383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Representación finita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" y="3794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Ocurre al representar un número con cifras limitadas en el computador.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9260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4663440" y="2926080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4754880" y="29626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Error de Truncamiento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383280"/>
            <a:ext cx="393192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4754880" y="3383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 finita de términos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3168" y="3794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Aproximar un proceso matemático infinito con un número finito de términos.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Propagación del Error: analiza cómo los errores iniciales se acumulan y afectan el resultado después de múltiples operaciones.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PSEUDOCÓDIGO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8BDF8"/>
                </a:solidFill>
              </a:rPr>
              <a:t>Algoritmo: Análisis Completo del Error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42519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42519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Algoritmo Analisis_Completo_Error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4904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7922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Cálculo de error simple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939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Leer valor_exacto, valor_aproximado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3957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error_absoluto ← |valor_exacto − valor_aproximado|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697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 valor_exacto ≠ 0 Entonces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9992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error_relativo ← error_absoluto / |valor_exacto|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33009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SiNo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6027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error_relativo ← 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39044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FinSi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4206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Escribir error_absoluto, error_relativo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Propagación del error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14904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Leer 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17922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suma_f32 ← 0  |  suma_f64 ← 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0939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3957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 i ← 1 Hasta n Hacer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2697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suma_f32 ← suma_f32 + 0.1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9992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suma_f64 ← suma_f64 + 0.1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33009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FinPara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36027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39044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valor_esperado ← n × 0.1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4206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Escribir errores de f32 y f64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4507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FinAlgoritmo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ENTORNOS DE DESARROLLO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690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690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🐍  Python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Entorno:  </a:t>
            </a:r>
            <a:r>
              <a:rPr lang="en-US" sz="1200" dirty="0">
                <a:solidFill>
                  <a:srgbClr val="334155"/>
                </a:solidFill>
              </a:rPr>
              <a:t>Jupyter Notebook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3969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NumPy:  </a:t>
            </a:r>
            <a:r>
              <a:rPr lang="en-US" sz="1200" dirty="0">
                <a:solidFill>
                  <a:srgbClr val="334155"/>
                </a:solidFill>
              </a:rPr>
              <a:t>Precisión float32 / float64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61518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math:  </a:t>
            </a:r>
            <a:r>
              <a:rPr lang="en-US" sz="1200" dirty="0">
                <a:solidFill>
                  <a:srgbClr val="334155"/>
                </a:solidFill>
              </a:rPr>
              <a:t>Valor de 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float32:  </a:t>
            </a:r>
            <a:r>
              <a:rPr lang="en-US" sz="1200" dirty="0">
                <a:solidFill>
                  <a:srgbClr val="334155"/>
                </a:solidFill>
              </a:rPr>
              <a:t>~7 decimales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5661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float64:  </a:t>
            </a:r>
            <a:r>
              <a:rPr lang="en-US" sz="1200" dirty="0">
                <a:solidFill>
                  <a:srgbClr val="334155"/>
                </a:solidFill>
              </a:rPr>
              <a:t>~15–16 decimales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041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Uso:  </a:t>
            </a:r>
            <a:r>
              <a:rPr lang="en-US" sz="1200" dirty="0">
                <a:solidFill>
                  <a:srgbClr val="334155"/>
                </a:solidFill>
              </a:rPr>
              <a:t>Simulación de </a:t>
            </a:r>
            <a:r>
              <a:rPr lang="en-US" sz="1200" dirty="0" err="1">
                <a:solidFill>
                  <a:srgbClr val="334155"/>
                </a:solidFill>
              </a:rPr>
              <a:t>errores</a:t>
            </a:r>
            <a:r>
              <a:rPr lang="en-US" sz="1200" dirty="0">
                <a:solidFill>
                  <a:srgbClr val="334155"/>
                </a:solidFill>
              </a:rPr>
              <a:t> </a:t>
            </a:r>
            <a:r>
              <a:rPr lang="en-US" sz="1200" dirty="0" err="1">
                <a:solidFill>
                  <a:srgbClr val="334155"/>
                </a:solidFill>
              </a:rPr>
              <a:t>absolutos</a:t>
            </a:r>
            <a:r>
              <a:rPr lang="en-US" sz="1200" dirty="0">
                <a:solidFill>
                  <a:srgbClr val="334155"/>
                </a:solidFill>
              </a:rPr>
              <a:t> y </a:t>
            </a:r>
            <a:r>
              <a:rPr lang="en-US" sz="1200" dirty="0" err="1">
                <a:solidFill>
                  <a:srgbClr val="334155"/>
                </a:solidFill>
              </a:rPr>
              <a:t>relativos</a:t>
            </a:r>
            <a:r>
              <a:rPr lang="en-US" sz="1200" dirty="0">
                <a:solidFill>
                  <a:srgbClr val="334155"/>
                </a:solidFill>
              </a:rPr>
              <a:t>, y análisis de propagación en </a:t>
            </a:r>
            <a:r>
              <a:rPr lang="en-US" sz="1200" dirty="0" err="1">
                <a:solidFill>
                  <a:srgbClr val="334155"/>
                </a:solidFill>
              </a:rPr>
              <a:t>operaciones</a:t>
            </a:r>
            <a:r>
              <a:rPr lang="en-US" sz="1200" dirty="0">
                <a:solidFill>
                  <a:srgbClr val="334155"/>
                </a:solidFill>
              </a:rPr>
              <a:t> </a:t>
            </a:r>
            <a:r>
              <a:rPr lang="en-US" sz="1200" dirty="0" err="1">
                <a:solidFill>
                  <a:srgbClr val="334155"/>
                </a:solidFill>
              </a:rPr>
              <a:t>repetitivas</a:t>
            </a:r>
            <a:r>
              <a:rPr lang="en-US" sz="1200" dirty="0">
                <a:solidFill>
                  <a:srgbClr val="334155"/>
                </a:solidFill>
              </a:rPr>
              <a:t>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097280"/>
            <a:ext cx="40690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4800600" y="1097280"/>
            <a:ext cx="40690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4892040" y="111556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📐  MATLAB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66420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Entorno:  </a:t>
            </a:r>
            <a:r>
              <a:rPr lang="en-US" sz="1200" dirty="0">
                <a:solidFill>
                  <a:srgbClr val="334155"/>
                </a:solidFill>
              </a:rPr>
              <a:t>Editor de Scripts MATLAB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13969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Librerías:  </a:t>
            </a:r>
            <a:r>
              <a:rPr lang="en-US" sz="1200" dirty="0">
                <a:solidFill>
                  <a:srgbClr val="334155"/>
                </a:solidFill>
              </a:rPr>
              <a:t>Funciones matemáticas nativas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61518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pi:  </a:t>
            </a:r>
            <a:r>
              <a:rPr lang="en-US" sz="1200" dirty="0">
                <a:solidFill>
                  <a:srgbClr val="334155"/>
                </a:solidFill>
              </a:rPr>
              <a:t>Constante π integrada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0906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single:  </a:t>
            </a:r>
            <a:r>
              <a:rPr lang="en-US" sz="1200" dirty="0">
                <a:solidFill>
                  <a:srgbClr val="334155"/>
                </a:solidFill>
              </a:rPr>
              <a:t>~7 decimales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5661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double:  </a:t>
            </a:r>
            <a:r>
              <a:rPr lang="en-US" sz="1200" dirty="0">
                <a:solidFill>
                  <a:srgbClr val="334155"/>
                </a:solidFill>
              </a:rPr>
              <a:t>~15–16 decimales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041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Uso:  </a:t>
            </a:r>
            <a:r>
              <a:rPr lang="en-US" sz="1200" dirty="0">
                <a:solidFill>
                  <a:srgbClr val="334155"/>
                </a:solidFill>
              </a:rPr>
              <a:t>Simulación de </a:t>
            </a:r>
            <a:r>
              <a:rPr lang="en-US" sz="1200" dirty="0" err="1">
                <a:solidFill>
                  <a:srgbClr val="334155"/>
                </a:solidFill>
              </a:rPr>
              <a:t>errores</a:t>
            </a:r>
            <a:r>
              <a:rPr lang="en-US" sz="1200" dirty="0">
                <a:solidFill>
                  <a:srgbClr val="334155"/>
                </a:solidFill>
              </a:rPr>
              <a:t> </a:t>
            </a:r>
            <a:r>
              <a:rPr lang="en-US" sz="1200" dirty="0" err="1">
                <a:solidFill>
                  <a:srgbClr val="334155"/>
                </a:solidFill>
              </a:rPr>
              <a:t>absolutos</a:t>
            </a:r>
            <a:r>
              <a:rPr lang="en-US" sz="1200" dirty="0">
                <a:solidFill>
                  <a:srgbClr val="334155"/>
                </a:solidFill>
              </a:rPr>
              <a:t> y </a:t>
            </a:r>
            <a:r>
              <a:rPr lang="en-US" sz="1200" dirty="0" err="1">
                <a:solidFill>
                  <a:srgbClr val="334155"/>
                </a:solidFill>
              </a:rPr>
              <a:t>relativos</a:t>
            </a:r>
            <a:r>
              <a:rPr lang="en-US" sz="1200" dirty="0">
                <a:solidFill>
                  <a:srgbClr val="334155"/>
                </a:solidFill>
              </a:rPr>
              <a:t>, y análisis de propagación en </a:t>
            </a:r>
            <a:r>
              <a:rPr lang="en-US" sz="1200" dirty="0" err="1">
                <a:solidFill>
                  <a:srgbClr val="334155"/>
                </a:solidFill>
              </a:rPr>
              <a:t>operaciones</a:t>
            </a:r>
            <a:r>
              <a:rPr lang="en-US" sz="1200" dirty="0">
                <a:solidFill>
                  <a:srgbClr val="334155"/>
                </a:solidFill>
              </a:rPr>
              <a:t> </a:t>
            </a:r>
            <a:r>
              <a:rPr lang="en-US" sz="1200" dirty="0" err="1">
                <a:solidFill>
                  <a:srgbClr val="334155"/>
                </a:solidFill>
              </a:rPr>
              <a:t>repetitivas</a:t>
            </a:r>
            <a:r>
              <a:rPr lang="en-US" sz="1200" dirty="0">
                <a:solidFill>
                  <a:srgbClr val="334155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— Cálculo de Errores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3200400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8BDF8"/>
                </a:solidFill>
              </a:rPr>
              <a:t>Aproximación del valor de 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60520" cy="822960"/>
          </a:xfrm>
          <a:prstGeom prst="rect">
            <a:avLst/>
          </a:prstGeom>
          <a:solidFill>
            <a:srgbClr val="1A2D4A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91440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Valor Exacto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3.141592653589793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160520" cy="822960"/>
          </a:xfrm>
          <a:prstGeom prst="rect">
            <a:avLst/>
          </a:prstGeom>
          <a:solidFill>
            <a:srgbClr val="1A2D4A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91440" cy="822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Valor Aproximado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719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160520" cy="822960"/>
          </a:xfrm>
          <a:prstGeom prst="rect">
            <a:avLst/>
          </a:prstGeom>
          <a:solidFill>
            <a:srgbClr val="1A2D4A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91440" cy="822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Error Absoluto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724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0.001592653589793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160520" cy="822960"/>
          </a:xfrm>
          <a:prstGeom prst="rect">
            <a:avLst/>
          </a:prstGeom>
          <a:solidFill>
            <a:srgbClr val="1A2D4A"/>
          </a:solidFill>
          <a:ln w="12700">
            <a:solidFill>
              <a:srgbClr val="C084F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91440" cy="8229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49377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Error Relativo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24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0.0507%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8595360" cy="1417320"/>
          </a:xfrm>
          <a:prstGeom prst="rect">
            <a:avLst/>
          </a:prstGeom>
          <a:solidFill>
            <a:srgbClr val="1A2D4A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💡  Observación clave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</a:rPr>
              <a:t>Aunque el error absoluto parece pequeño, el error relativo (~0.05%) revela la magnitud real del desvío respecto al valor verdadero. Esta distinción es crucial en aplicaciones donde la precisión impacta directamente decisiones automatizadas.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— Propagación del Error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2004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347472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</a:rPr>
              <a:t>Característica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143000"/>
            <a:ext cx="25603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3547872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float32 / single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5603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6108192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float64 / double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65760" y="166420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Decimales exactos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0" y="160020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566160" y="16642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~7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126480" y="16642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~15–16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075688"/>
            <a:ext cx="32004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365760" y="213969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Tamaño en memoria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0" y="2075688"/>
            <a:ext cx="256032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3566160" y="21396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4 bytes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35040" y="2075688"/>
            <a:ext cx="256032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6126480" y="21396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8 bytes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255117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365760" y="26151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Error tras 1M ops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74720" y="255117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3566160" y="26151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C2626"/>
                </a:solidFill>
              </a:rPr>
              <a:t>Significativo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35040" y="255117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6126480" y="26151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</a:rPr>
              <a:t>Prácticamente nulo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3026664"/>
            <a:ext cx="32004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365760" y="30906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Acumulación error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74720" y="3026664"/>
            <a:ext cx="256032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3566160" y="3090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C2626"/>
                </a:solidFill>
              </a:rPr>
              <a:t>Progresiva y notable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35040" y="3026664"/>
            <a:ext cx="256032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6126480" y="3090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</a:rPr>
              <a:t>Muy estable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" y="350215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365760" y="35661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Recomendado para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474720" y="350215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3566160" y="3566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Prototipado rápido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35040" y="350215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6126480" y="3566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Software de producción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457200" y="44988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</a:rPr>
              <a:t>⚠️  El número 0.1 no tiene representación binaria exacta → cada suma acumula un pequeño error de redondeo, visible sólo con float32 a gran escala.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DISCUSIÓN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645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1A2D4A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9144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🔍 Error absoluto vs. relativo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Usar 3.14 en vez de π parece trivial, pero el error relativo (~0.05%) cobra importancia al comparar resultados a distintas escalas.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95360" cy="868680"/>
          </a:xfrm>
          <a:prstGeom prst="rect">
            <a:avLst/>
          </a:prstGeom>
          <a:solidFill>
            <a:srgbClr val="1A2D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914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📈 Propagación con float32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359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La precisión simple acumula error progresivo en operaciones iterativas. float64 mantiene errores prácticamente nulos en todos los escenarios evaluados.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8595360" cy="868680"/>
          </a:xfrm>
          <a:prstGeom prst="rect">
            <a:avLst/>
          </a:prstGeom>
          <a:solidFill>
            <a:srgbClr val="1A2D4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9144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⚠️ Limitaciones del estudio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3649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Experimentos con casos reducidos y operaciones simples. No se evaluaron sistemas de ecuaciones, integraciones ni factores como estabilidad algorítmica.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023360"/>
            <a:ext cx="8595360" cy="868680"/>
          </a:xfrm>
          <a:prstGeom prst="rect">
            <a:avLst/>
          </a:prstGeom>
          <a:solidFill>
            <a:srgbClr val="1A2D4A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274320" y="4023360"/>
            <a:ext cx="91440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502920" y="4078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🚀 Líneas de mejora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</a:rPr>
              <a:t>Ampliar hacia ML y simulaciones físicas. Comparar librerías y entornos donde la propagación del error tenga mayor impacto práctico.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FUENTES—  Autores Clave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09728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30352" y="1197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Chapra &amp; Canale (2015)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472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Métodos Numéricos para Ingenieros, 7ª ed.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70992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Los cálculos científicos siempre están sujetos a sesgos de redondeo y truncamiento. Ignorarlos genera resultados inestables y poco confiables.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404872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274320" y="2404872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530352" y="24597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Taylor, J. (1997)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7340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Introducción al Análisis de Errores, 2ª 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97180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Comprender la propagación del error es requisito para analizar la física experimental. Permite evaluar la incertidumbre en datos y desarrollar conclusiones fundamentadas.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666744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274320" y="3666744"/>
            <a:ext cx="109728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530352" y="3721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Menditto, Mariana &amp; Bertil (2007)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995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Exactitud, Veracidad y Precisión en Metrología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423367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Distinguen entre resultados cercanos al valor verdadero (exactos) y resultados consistentes entre sí (precisos), evitando inferencias erróneas en investigación.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solidFill>
            <a:srgbClr val="1A2D4A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384048" y="1170432"/>
            <a:ext cx="493776" cy="49377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384048" y="1170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097280"/>
            <a:ext cx="7726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</a:rPr>
              <a:t>El error relativo es más informativo que el absoluto para comparar resultados en distintas escalas.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8595360" cy="822960"/>
          </a:xfrm>
          <a:prstGeom prst="rect">
            <a:avLst/>
          </a:prstGeom>
          <a:solidFill>
            <a:srgbClr val="1A2D4A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384048" y="2157984"/>
            <a:ext cx="493776" cy="49377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84048" y="21579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084832"/>
            <a:ext cx="7726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</a:rPr>
              <a:t>float64 es significativamente más estable que float32 en operaciones iterativas y debe ser el estándar en software de producción.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8595360" cy="822960"/>
          </a:xfrm>
          <a:prstGeom prst="rect">
            <a:avLst/>
          </a:prstGeom>
          <a:solidFill>
            <a:srgbClr val="1A2D4A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384048" y="3145536"/>
            <a:ext cx="493776" cy="493776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384048" y="31455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072384"/>
            <a:ext cx="7726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</a:rPr>
              <a:t>La teoría del error no es solo un fundamento matemático: es una herramienta práctica para construir software robusto, confiable y reproducible.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8595360" cy="822960"/>
          </a:xfrm>
          <a:prstGeom prst="rect">
            <a:avLst/>
          </a:prstGeom>
          <a:solidFill>
            <a:srgbClr val="1A2D4A"/>
          </a:solidFill>
          <a:ln w="12700">
            <a:solidFill>
              <a:srgbClr val="C084F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384048" y="4133088"/>
            <a:ext cx="493776" cy="49377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384048" y="4133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059936"/>
            <a:ext cx="7726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</a:rPr>
              <a:t>Comprender cómo se originan y propagan los errores permite a los ingenieros diseñar algoritmos más estables y tomar decisiones más informadas.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1023</Words>
  <Application>Microsoft Office PowerPoint</Application>
  <PresentationFormat>Presentación en pantalla (16:9)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del Error y Ecuaciones No Lineales</dc:title>
  <dc:subject>PptxGenJS Presentation</dc:subject>
  <dc:creator>PptxGenJS</dc:creator>
  <cp:lastModifiedBy>LENIN CHARVELO FLORES BUSTAMANTE</cp:lastModifiedBy>
  <cp:revision>2</cp:revision>
  <dcterms:created xsi:type="dcterms:W3CDTF">2026-04-28T07:32:50Z</dcterms:created>
  <dcterms:modified xsi:type="dcterms:W3CDTF">2026-04-28T08:04:44Z</dcterms:modified>
</cp:coreProperties>
</file>